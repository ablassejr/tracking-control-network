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25603200" cy="20116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7066C8-6217-46C9-98D4-8BC78927B817}" v="267" dt="2023-06-13T02:34:26.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p:scale>
          <a:sx n="100" d="100"/>
          <a:sy n="100" d="100"/>
        </p:scale>
        <p:origin x="-2796" y="-80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20240" y="3292265"/>
            <a:ext cx="21762720" cy="7003627"/>
          </a:xfrm>
        </p:spPr>
        <p:txBody>
          <a:bodyPr anchor="b"/>
          <a:lstStyle>
            <a:lvl1pPr algn="ctr">
              <a:defRPr sz="16800"/>
            </a:lvl1pPr>
          </a:lstStyle>
          <a:p>
            <a:r>
              <a:rPr lang="en-US"/>
              <a:t>Click to edit Master title style</a:t>
            </a:r>
            <a:endParaRPr lang="en-US" dirty="0"/>
          </a:p>
        </p:txBody>
      </p:sp>
      <p:sp>
        <p:nvSpPr>
          <p:cNvPr id="3" name="Subtitle 2"/>
          <p:cNvSpPr>
            <a:spLocks noGrp="1"/>
          </p:cNvSpPr>
          <p:nvPr>
            <p:ph type="subTitle" idx="1"/>
          </p:nvPr>
        </p:nvSpPr>
        <p:spPr>
          <a:xfrm>
            <a:off x="3200400" y="10565978"/>
            <a:ext cx="19202400" cy="4856902"/>
          </a:xfrm>
        </p:spPr>
        <p:txBody>
          <a:bodyPr/>
          <a:lstStyle>
            <a:lvl1pPr marL="0" indent="0" algn="ctr">
              <a:buNone/>
              <a:defRPr sz="6720"/>
            </a:lvl1pPr>
            <a:lvl2pPr marL="1280160" indent="0" algn="ctr">
              <a:buNone/>
              <a:defRPr sz="5600"/>
            </a:lvl2pPr>
            <a:lvl3pPr marL="2560320" indent="0" algn="ctr">
              <a:buNone/>
              <a:defRPr sz="5040"/>
            </a:lvl3pPr>
            <a:lvl4pPr marL="3840480" indent="0" algn="ctr">
              <a:buNone/>
              <a:defRPr sz="4480"/>
            </a:lvl4pPr>
            <a:lvl5pPr marL="5120640" indent="0" algn="ctr">
              <a:buNone/>
              <a:defRPr sz="4480"/>
            </a:lvl5pPr>
            <a:lvl6pPr marL="6400800" indent="0" algn="ctr">
              <a:buNone/>
              <a:defRPr sz="4480"/>
            </a:lvl6pPr>
            <a:lvl7pPr marL="7680960" indent="0" algn="ctr">
              <a:buNone/>
              <a:defRPr sz="4480"/>
            </a:lvl7pPr>
            <a:lvl8pPr marL="8961120" indent="0" algn="ctr">
              <a:buNone/>
              <a:defRPr sz="4480"/>
            </a:lvl8pPr>
            <a:lvl9pPr marL="10241280" indent="0" algn="ctr">
              <a:buNone/>
              <a:defRPr sz="44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883EFD-5D31-43D9-BDE3-1BB1405E82DA}"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3405564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883EFD-5D31-43D9-BDE3-1BB1405E82DA}"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39980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46886" y="5015236"/>
            <a:ext cx="22082760" cy="8368029"/>
          </a:xfrm>
        </p:spPr>
        <p:txBody>
          <a:bodyPr anchor="b"/>
          <a:lstStyle>
            <a:lvl1pPr>
              <a:defRPr sz="16800"/>
            </a:lvl1pPr>
          </a:lstStyle>
          <a:p>
            <a:r>
              <a:rPr lang="en-US"/>
              <a:t>Click to edit Master title style</a:t>
            </a:r>
            <a:endParaRPr lang="en-US" dirty="0"/>
          </a:p>
        </p:txBody>
      </p:sp>
      <p:sp>
        <p:nvSpPr>
          <p:cNvPr id="3" name="Text Placeholder 2"/>
          <p:cNvSpPr>
            <a:spLocks noGrp="1"/>
          </p:cNvSpPr>
          <p:nvPr>
            <p:ph type="body" idx="1"/>
          </p:nvPr>
        </p:nvSpPr>
        <p:spPr>
          <a:xfrm>
            <a:off x="1746886" y="13462429"/>
            <a:ext cx="22082760" cy="4400549"/>
          </a:xfrm>
        </p:spPr>
        <p:txBody>
          <a:bodyPr/>
          <a:lstStyle>
            <a:lvl1pPr marL="0" indent="0">
              <a:buNone/>
              <a:defRPr sz="6720">
                <a:solidFill>
                  <a:schemeClr val="tx1"/>
                </a:solidFill>
              </a:defRPr>
            </a:lvl1pPr>
            <a:lvl2pPr marL="1280160" indent="0">
              <a:buNone/>
              <a:defRPr sz="5600">
                <a:solidFill>
                  <a:schemeClr val="tx1">
                    <a:tint val="75000"/>
                  </a:schemeClr>
                </a:solidFill>
              </a:defRPr>
            </a:lvl2pPr>
            <a:lvl3pPr marL="2560320" indent="0">
              <a:buNone/>
              <a:defRPr sz="5040">
                <a:solidFill>
                  <a:schemeClr val="tx1">
                    <a:tint val="75000"/>
                  </a:schemeClr>
                </a:solidFill>
              </a:defRPr>
            </a:lvl3pPr>
            <a:lvl4pPr marL="3840480" indent="0">
              <a:buNone/>
              <a:defRPr sz="4480">
                <a:solidFill>
                  <a:schemeClr val="tx1">
                    <a:tint val="75000"/>
                  </a:schemeClr>
                </a:solidFill>
              </a:defRPr>
            </a:lvl4pPr>
            <a:lvl5pPr marL="5120640" indent="0">
              <a:buNone/>
              <a:defRPr sz="4480">
                <a:solidFill>
                  <a:schemeClr val="tx1">
                    <a:tint val="75000"/>
                  </a:schemeClr>
                </a:solidFill>
              </a:defRPr>
            </a:lvl5pPr>
            <a:lvl6pPr marL="6400800" indent="0">
              <a:buNone/>
              <a:defRPr sz="4480">
                <a:solidFill>
                  <a:schemeClr val="tx1">
                    <a:tint val="75000"/>
                  </a:schemeClr>
                </a:solidFill>
              </a:defRPr>
            </a:lvl6pPr>
            <a:lvl7pPr marL="7680960" indent="0">
              <a:buNone/>
              <a:defRPr sz="4480">
                <a:solidFill>
                  <a:schemeClr val="tx1">
                    <a:tint val="75000"/>
                  </a:schemeClr>
                </a:solidFill>
              </a:defRPr>
            </a:lvl7pPr>
            <a:lvl8pPr marL="8961120" indent="0">
              <a:buNone/>
              <a:defRPr sz="4480">
                <a:solidFill>
                  <a:schemeClr val="tx1">
                    <a:tint val="75000"/>
                  </a:schemeClr>
                </a:solidFill>
              </a:defRPr>
            </a:lvl8pPr>
            <a:lvl9pPr marL="1024128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883EFD-5D31-43D9-BDE3-1BB1405E82DA}"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4204135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60220" y="5355167"/>
            <a:ext cx="10881360" cy="12763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961620" y="5355167"/>
            <a:ext cx="10881360" cy="12763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883EFD-5D31-43D9-BDE3-1BB1405E82DA}" type="datetimeFigureOut">
              <a:rPr lang="en-US" smtClean="0"/>
              <a:t>6/18/2023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21034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63555" y="1071038"/>
            <a:ext cx="22082760" cy="38883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63558" y="4931411"/>
            <a:ext cx="10831352" cy="2416809"/>
          </a:xfrm>
        </p:spPr>
        <p:txBody>
          <a:bodyPr anchor="b"/>
          <a:lstStyle>
            <a:lvl1pPr marL="0" indent="0">
              <a:buNone/>
              <a:defRPr sz="6720" b="1"/>
            </a:lvl1pPr>
            <a:lvl2pPr marL="1280160" indent="0">
              <a:buNone/>
              <a:defRPr sz="5600" b="1"/>
            </a:lvl2pPr>
            <a:lvl3pPr marL="2560320" indent="0">
              <a:buNone/>
              <a:defRPr sz="5040" b="1"/>
            </a:lvl3pPr>
            <a:lvl4pPr marL="3840480" indent="0">
              <a:buNone/>
              <a:defRPr sz="4480" b="1"/>
            </a:lvl4pPr>
            <a:lvl5pPr marL="5120640" indent="0">
              <a:buNone/>
              <a:defRPr sz="4480" b="1"/>
            </a:lvl5pPr>
            <a:lvl6pPr marL="6400800" indent="0">
              <a:buNone/>
              <a:defRPr sz="4480" b="1"/>
            </a:lvl6pPr>
            <a:lvl7pPr marL="7680960" indent="0">
              <a:buNone/>
              <a:defRPr sz="4480" b="1"/>
            </a:lvl7pPr>
            <a:lvl8pPr marL="8961120" indent="0">
              <a:buNone/>
              <a:defRPr sz="4480" b="1"/>
            </a:lvl8pPr>
            <a:lvl9pPr marL="10241280" indent="0">
              <a:buNone/>
              <a:defRPr sz="4480" b="1"/>
            </a:lvl9pPr>
          </a:lstStyle>
          <a:p>
            <a:pPr lvl="0"/>
            <a:r>
              <a:rPr lang="en-US"/>
              <a:t>Click to edit Master text styles</a:t>
            </a:r>
          </a:p>
        </p:txBody>
      </p:sp>
      <p:sp>
        <p:nvSpPr>
          <p:cNvPr id="4" name="Content Placeholder 3"/>
          <p:cNvSpPr>
            <a:spLocks noGrp="1"/>
          </p:cNvSpPr>
          <p:nvPr>
            <p:ph sz="half" idx="2"/>
          </p:nvPr>
        </p:nvSpPr>
        <p:spPr>
          <a:xfrm>
            <a:off x="1763558" y="7348220"/>
            <a:ext cx="10831352" cy="1080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961621" y="4931411"/>
            <a:ext cx="10884695" cy="2416809"/>
          </a:xfrm>
        </p:spPr>
        <p:txBody>
          <a:bodyPr anchor="b"/>
          <a:lstStyle>
            <a:lvl1pPr marL="0" indent="0">
              <a:buNone/>
              <a:defRPr sz="6720" b="1"/>
            </a:lvl1pPr>
            <a:lvl2pPr marL="1280160" indent="0">
              <a:buNone/>
              <a:defRPr sz="5600" b="1"/>
            </a:lvl2pPr>
            <a:lvl3pPr marL="2560320" indent="0">
              <a:buNone/>
              <a:defRPr sz="5040" b="1"/>
            </a:lvl3pPr>
            <a:lvl4pPr marL="3840480" indent="0">
              <a:buNone/>
              <a:defRPr sz="4480" b="1"/>
            </a:lvl4pPr>
            <a:lvl5pPr marL="5120640" indent="0">
              <a:buNone/>
              <a:defRPr sz="4480" b="1"/>
            </a:lvl5pPr>
            <a:lvl6pPr marL="6400800" indent="0">
              <a:buNone/>
              <a:defRPr sz="4480" b="1"/>
            </a:lvl6pPr>
            <a:lvl7pPr marL="7680960" indent="0">
              <a:buNone/>
              <a:defRPr sz="4480" b="1"/>
            </a:lvl7pPr>
            <a:lvl8pPr marL="8961120" indent="0">
              <a:buNone/>
              <a:defRPr sz="4480" b="1"/>
            </a:lvl8pPr>
            <a:lvl9pPr marL="10241280" indent="0">
              <a:buNone/>
              <a:defRPr sz="4480" b="1"/>
            </a:lvl9pPr>
          </a:lstStyle>
          <a:p>
            <a:pPr lvl="0"/>
            <a:r>
              <a:rPr lang="en-US"/>
              <a:t>Click to edit Master text styles</a:t>
            </a:r>
          </a:p>
        </p:txBody>
      </p:sp>
      <p:sp>
        <p:nvSpPr>
          <p:cNvPr id="6" name="Content Placeholder 5"/>
          <p:cNvSpPr>
            <a:spLocks noGrp="1"/>
          </p:cNvSpPr>
          <p:nvPr>
            <p:ph sz="quarter" idx="4"/>
          </p:nvPr>
        </p:nvSpPr>
        <p:spPr>
          <a:xfrm>
            <a:off x="12961621" y="7348220"/>
            <a:ext cx="10884695" cy="1080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883EFD-5D31-43D9-BDE3-1BB1405E82DA}" type="datetimeFigureOut">
              <a:rPr lang="en-US" smtClean="0"/>
              <a:t>6/18/2023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487246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883EFD-5D31-43D9-BDE3-1BB1405E82DA}" type="datetimeFigureOut">
              <a:rPr lang="en-US" smtClean="0"/>
              <a:t>6/18/2023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4149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883EFD-5D31-43D9-BDE3-1BB1405E82DA}" type="datetimeFigureOut">
              <a:rPr lang="en-US" smtClean="0"/>
              <a:t>6/18/2023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1864252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63555" y="1341120"/>
            <a:ext cx="8257698" cy="4693920"/>
          </a:xfrm>
        </p:spPr>
        <p:txBody>
          <a:bodyPr anchor="b"/>
          <a:lstStyle>
            <a:lvl1pPr>
              <a:defRPr sz="8960"/>
            </a:lvl1pPr>
          </a:lstStyle>
          <a:p>
            <a:r>
              <a:rPr lang="en-US"/>
              <a:t>Click to edit Master title style</a:t>
            </a:r>
            <a:endParaRPr lang="en-US" dirty="0"/>
          </a:p>
        </p:txBody>
      </p:sp>
      <p:sp>
        <p:nvSpPr>
          <p:cNvPr id="3" name="Content Placeholder 2"/>
          <p:cNvSpPr>
            <a:spLocks noGrp="1"/>
          </p:cNvSpPr>
          <p:nvPr>
            <p:ph idx="1"/>
          </p:nvPr>
        </p:nvSpPr>
        <p:spPr>
          <a:xfrm>
            <a:off x="10884695" y="2896451"/>
            <a:ext cx="12961620" cy="14295967"/>
          </a:xfrm>
        </p:spPr>
        <p:txBody>
          <a:bodyPr/>
          <a:lstStyle>
            <a:lvl1pPr>
              <a:defRPr sz="8960"/>
            </a:lvl1pPr>
            <a:lvl2pPr>
              <a:defRPr sz="7840"/>
            </a:lvl2pPr>
            <a:lvl3pPr>
              <a:defRPr sz="6720"/>
            </a:lvl3pPr>
            <a:lvl4pPr>
              <a:defRPr sz="5600"/>
            </a:lvl4pPr>
            <a:lvl5pPr>
              <a:defRPr sz="5600"/>
            </a:lvl5pPr>
            <a:lvl6pPr>
              <a:defRPr sz="5600"/>
            </a:lvl6pPr>
            <a:lvl7pPr>
              <a:defRPr sz="5600"/>
            </a:lvl7pPr>
            <a:lvl8pPr>
              <a:defRPr sz="5600"/>
            </a:lvl8pPr>
            <a:lvl9pPr>
              <a:defRPr sz="5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63555" y="6035040"/>
            <a:ext cx="8257698" cy="11180658"/>
          </a:xfrm>
        </p:spPr>
        <p:txBody>
          <a:bodyPr/>
          <a:lstStyle>
            <a:lvl1pPr marL="0" indent="0">
              <a:buNone/>
              <a:defRPr sz="4480"/>
            </a:lvl1pPr>
            <a:lvl2pPr marL="1280160" indent="0">
              <a:buNone/>
              <a:defRPr sz="3920"/>
            </a:lvl2pPr>
            <a:lvl3pPr marL="2560320" indent="0">
              <a:buNone/>
              <a:defRPr sz="3360"/>
            </a:lvl3pPr>
            <a:lvl4pPr marL="3840480" indent="0">
              <a:buNone/>
              <a:defRPr sz="2800"/>
            </a:lvl4pPr>
            <a:lvl5pPr marL="5120640" indent="0">
              <a:buNone/>
              <a:defRPr sz="2800"/>
            </a:lvl5pPr>
            <a:lvl6pPr marL="6400800" indent="0">
              <a:buNone/>
              <a:defRPr sz="2800"/>
            </a:lvl6pPr>
            <a:lvl7pPr marL="7680960" indent="0">
              <a:buNone/>
              <a:defRPr sz="2800"/>
            </a:lvl7pPr>
            <a:lvl8pPr marL="8961120" indent="0">
              <a:buNone/>
              <a:defRPr sz="2800"/>
            </a:lvl8pPr>
            <a:lvl9pPr marL="10241280" indent="0">
              <a:buNone/>
              <a:defRPr sz="2800"/>
            </a:lvl9pPr>
          </a:lstStyle>
          <a:p>
            <a:pPr lvl="0"/>
            <a:r>
              <a:rPr lang="en-US"/>
              <a:t>Click to edit Master text styles</a:t>
            </a:r>
          </a:p>
        </p:txBody>
      </p:sp>
      <p:sp>
        <p:nvSpPr>
          <p:cNvPr id="5" name="Date Placeholder 4"/>
          <p:cNvSpPr>
            <a:spLocks noGrp="1"/>
          </p:cNvSpPr>
          <p:nvPr>
            <p:ph type="dt" sz="half" idx="10"/>
          </p:nvPr>
        </p:nvSpPr>
        <p:spPr/>
        <p:txBody>
          <a:bodyPr/>
          <a:lstStyle/>
          <a:p>
            <a:fld id="{DE883EFD-5D31-43D9-BDE3-1BB1405E82DA}" type="datetimeFigureOut">
              <a:rPr lang="en-US" smtClean="0"/>
              <a:t>6/18/2023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339315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63555" y="1341120"/>
            <a:ext cx="8257698" cy="4693920"/>
          </a:xfrm>
        </p:spPr>
        <p:txBody>
          <a:bodyPr anchor="b"/>
          <a:lstStyle>
            <a:lvl1pPr>
              <a:defRPr sz="89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884695" y="2896451"/>
            <a:ext cx="12961620" cy="14295967"/>
          </a:xfrm>
        </p:spPr>
        <p:txBody>
          <a:bodyPr anchor="t"/>
          <a:lstStyle>
            <a:lvl1pPr marL="0" indent="0">
              <a:buNone/>
              <a:defRPr sz="8960"/>
            </a:lvl1pPr>
            <a:lvl2pPr marL="1280160" indent="0">
              <a:buNone/>
              <a:defRPr sz="7840"/>
            </a:lvl2pPr>
            <a:lvl3pPr marL="2560320" indent="0">
              <a:buNone/>
              <a:defRPr sz="6720"/>
            </a:lvl3pPr>
            <a:lvl4pPr marL="3840480" indent="0">
              <a:buNone/>
              <a:defRPr sz="5600"/>
            </a:lvl4pPr>
            <a:lvl5pPr marL="5120640" indent="0">
              <a:buNone/>
              <a:defRPr sz="5600"/>
            </a:lvl5pPr>
            <a:lvl6pPr marL="6400800" indent="0">
              <a:buNone/>
              <a:defRPr sz="5600"/>
            </a:lvl6pPr>
            <a:lvl7pPr marL="7680960" indent="0">
              <a:buNone/>
              <a:defRPr sz="5600"/>
            </a:lvl7pPr>
            <a:lvl8pPr marL="8961120" indent="0">
              <a:buNone/>
              <a:defRPr sz="5600"/>
            </a:lvl8pPr>
            <a:lvl9pPr marL="10241280" indent="0">
              <a:buNone/>
              <a:defRPr sz="5600"/>
            </a:lvl9pPr>
          </a:lstStyle>
          <a:p>
            <a:r>
              <a:rPr lang="en-US"/>
              <a:t>Click icon to add picture</a:t>
            </a:r>
            <a:endParaRPr lang="en-US" dirty="0"/>
          </a:p>
        </p:txBody>
      </p:sp>
      <p:sp>
        <p:nvSpPr>
          <p:cNvPr id="4" name="Text Placeholder 3"/>
          <p:cNvSpPr>
            <a:spLocks noGrp="1"/>
          </p:cNvSpPr>
          <p:nvPr>
            <p:ph type="body" sz="half" idx="2"/>
          </p:nvPr>
        </p:nvSpPr>
        <p:spPr>
          <a:xfrm>
            <a:off x="1763555" y="6035040"/>
            <a:ext cx="8257698" cy="11180658"/>
          </a:xfrm>
        </p:spPr>
        <p:txBody>
          <a:bodyPr/>
          <a:lstStyle>
            <a:lvl1pPr marL="0" indent="0">
              <a:buNone/>
              <a:defRPr sz="4480"/>
            </a:lvl1pPr>
            <a:lvl2pPr marL="1280160" indent="0">
              <a:buNone/>
              <a:defRPr sz="3920"/>
            </a:lvl2pPr>
            <a:lvl3pPr marL="2560320" indent="0">
              <a:buNone/>
              <a:defRPr sz="3360"/>
            </a:lvl3pPr>
            <a:lvl4pPr marL="3840480" indent="0">
              <a:buNone/>
              <a:defRPr sz="2800"/>
            </a:lvl4pPr>
            <a:lvl5pPr marL="5120640" indent="0">
              <a:buNone/>
              <a:defRPr sz="2800"/>
            </a:lvl5pPr>
            <a:lvl6pPr marL="6400800" indent="0">
              <a:buNone/>
              <a:defRPr sz="2800"/>
            </a:lvl6pPr>
            <a:lvl7pPr marL="7680960" indent="0">
              <a:buNone/>
              <a:defRPr sz="2800"/>
            </a:lvl7pPr>
            <a:lvl8pPr marL="8961120" indent="0">
              <a:buNone/>
              <a:defRPr sz="2800"/>
            </a:lvl8pPr>
            <a:lvl9pPr marL="10241280" indent="0">
              <a:buNone/>
              <a:defRPr sz="2800"/>
            </a:lvl9pPr>
          </a:lstStyle>
          <a:p>
            <a:pPr lvl="0"/>
            <a:r>
              <a:rPr lang="en-US"/>
              <a:t>Click to edit Master text styles</a:t>
            </a:r>
          </a:p>
        </p:txBody>
      </p:sp>
      <p:sp>
        <p:nvSpPr>
          <p:cNvPr id="5" name="Date Placeholder 4"/>
          <p:cNvSpPr>
            <a:spLocks noGrp="1"/>
          </p:cNvSpPr>
          <p:nvPr>
            <p:ph type="dt" sz="half" idx="10"/>
          </p:nvPr>
        </p:nvSpPr>
        <p:spPr/>
        <p:txBody>
          <a:bodyPr/>
          <a:lstStyle/>
          <a:p>
            <a:fld id="{DE883EFD-5D31-43D9-BDE3-1BB1405E82DA}" type="datetimeFigureOut">
              <a:rPr lang="en-US" smtClean="0"/>
              <a:t>6/18/2023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3719632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883EFD-5D31-43D9-BDE3-1BB1405E82DA}"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3766300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322291" y="1071033"/>
            <a:ext cx="5520690" cy="1704805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60221" y="1071033"/>
            <a:ext cx="16242030" cy="1704805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883EFD-5D31-43D9-BDE3-1BB1405E82DA}" type="datetimeFigureOut">
              <a:rPr lang="en-US" smtClean="0"/>
              <a:t>6/18/2023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08A9B5-843F-464E-A645-2C559A828EFB}" type="slidenum">
              <a:rPr lang="en-US" smtClean="0"/>
              <a:t>‹#›</a:t>
            </a:fld>
            <a:endParaRPr lang="en-US"/>
          </a:p>
        </p:txBody>
      </p:sp>
    </p:spTree>
    <p:extLst>
      <p:ext uri="{BB962C8B-B14F-4D97-AF65-F5344CB8AC3E}">
        <p14:creationId xmlns:p14="http://schemas.microsoft.com/office/powerpoint/2010/main" val="105852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60220" y="1071038"/>
            <a:ext cx="22082760" cy="38883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60220" y="5355167"/>
            <a:ext cx="22082760" cy="127639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60220" y="18645298"/>
            <a:ext cx="5760720" cy="1071033"/>
          </a:xfrm>
          <a:prstGeom prst="rect">
            <a:avLst/>
          </a:prstGeom>
        </p:spPr>
        <p:txBody>
          <a:bodyPr vert="horz" lIns="91440" tIns="45720" rIns="91440" bIns="45720" rtlCol="0" anchor="ctr"/>
          <a:lstStyle>
            <a:lvl1pPr algn="l">
              <a:defRPr sz="3360">
                <a:solidFill>
                  <a:schemeClr val="tx1">
                    <a:tint val="75000"/>
                  </a:schemeClr>
                </a:solidFill>
              </a:defRPr>
            </a:lvl1pPr>
          </a:lstStyle>
          <a:p>
            <a:fld id="{DE883EFD-5D31-43D9-BDE3-1BB1405E82DA}" type="datetimeFigureOut">
              <a:rPr lang="en-US" smtClean="0"/>
              <a:t>6/18/2023</a:t>
            </a:fld>
            <a:endParaRPr lang="en-US"/>
          </a:p>
        </p:txBody>
      </p:sp>
      <p:sp>
        <p:nvSpPr>
          <p:cNvPr id="5" name="Footer Placeholder 4"/>
          <p:cNvSpPr>
            <a:spLocks noGrp="1"/>
          </p:cNvSpPr>
          <p:nvPr>
            <p:ph type="ftr" sz="quarter" idx="3"/>
          </p:nvPr>
        </p:nvSpPr>
        <p:spPr>
          <a:xfrm>
            <a:off x="8481060" y="18645298"/>
            <a:ext cx="8641080" cy="1071033"/>
          </a:xfrm>
          <a:prstGeom prst="rect">
            <a:avLst/>
          </a:prstGeom>
        </p:spPr>
        <p:txBody>
          <a:bodyPr vert="horz" lIns="91440" tIns="45720" rIns="91440" bIns="45720" rtlCol="0" anchor="ctr"/>
          <a:lstStyle>
            <a:lvl1pPr algn="ctr">
              <a:defRPr sz="33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8082260" y="18645298"/>
            <a:ext cx="5760720" cy="1071033"/>
          </a:xfrm>
          <a:prstGeom prst="rect">
            <a:avLst/>
          </a:prstGeom>
        </p:spPr>
        <p:txBody>
          <a:bodyPr vert="horz" lIns="91440" tIns="45720" rIns="91440" bIns="45720" rtlCol="0" anchor="ctr"/>
          <a:lstStyle>
            <a:lvl1pPr algn="r">
              <a:defRPr sz="3360">
                <a:solidFill>
                  <a:schemeClr val="tx1">
                    <a:tint val="75000"/>
                  </a:schemeClr>
                </a:solidFill>
              </a:defRPr>
            </a:lvl1pPr>
          </a:lstStyle>
          <a:p>
            <a:fld id="{2208A9B5-843F-464E-A645-2C559A828EFB}" type="slidenum">
              <a:rPr lang="en-US" smtClean="0"/>
              <a:t>‹#›</a:t>
            </a:fld>
            <a:endParaRPr lang="en-US"/>
          </a:p>
        </p:txBody>
      </p:sp>
    </p:spTree>
    <p:extLst>
      <p:ext uri="{BB962C8B-B14F-4D97-AF65-F5344CB8AC3E}">
        <p14:creationId xmlns:p14="http://schemas.microsoft.com/office/powerpoint/2010/main" val="153901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560320" rtl="0" eaLnBrk="1" latinLnBrk="0" hangingPunct="1">
        <a:lnSpc>
          <a:spcPct val="90000"/>
        </a:lnSpc>
        <a:spcBef>
          <a:spcPct val="0"/>
        </a:spcBef>
        <a:buNone/>
        <a:defRPr sz="12320" kern="1200">
          <a:solidFill>
            <a:schemeClr val="tx1"/>
          </a:solidFill>
          <a:latin typeface="+mj-lt"/>
          <a:ea typeface="+mj-ea"/>
          <a:cs typeface="+mj-cs"/>
        </a:defRPr>
      </a:lvl1pPr>
    </p:titleStyle>
    <p:bodyStyle>
      <a:lvl1pPr marL="640080" indent="-640080" algn="l" defTabSz="2560320" rtl="0" eaLnBrk="1" latinLnBrk="0" hangingPunct="1">
        <a:lnSpc>
          <a:spcPct val="90000"/>
        </a:lnSpc>
        <a:spcBef>
          <a:spcPts val="2800"/>
        </a:spcBef>
        <a:buFont typeface="Arial" panose="020B0604020202020204" pitchFamily="34" charset="0"/>
        <a:buChar char="•"/>
        <a:defRPr sz="7840" kern="1200">
          <a:solidFill>
            <a:schemeClr val="tx1"/>
          </a:solidFill>
          <a:latin typeface="+mn-lt"/>
          <a:ea typeface="+mn-ea"/>
          <a:cs typeface="+mn-cs"/>
        </a:defRPr>
      </a:lvl1pPr>
      <a:lvl2pPr marL="1920240" indent="-640080" algn="l" defTabSz="2560320" rtl="0" eaLnBrk="1" latinLnBrk="0" hangingPunct="1">
        <a:lnSpc>
          <a:spcPct val="90000"/>
        </a:lnSpc>
        <a:spcBef>
          <a:spcPts val="1400"/>
        </a:spcBef>
        <a:buFont typeface="Arial" panose="020B0604020202020204" pitchFamily="34" charset="0"/>
        <a:buChar char="•"/>
        <a:defRPr sz="6720" kern="1200">
          <a:solidFill>
            <a:schemeClr val="tx1"/>
          </a:solidFill>
          <a:latin typeface="+mn-lt"/>
          <a:ea typeface="+mn-ea"/>
          <a:cs typeface="+mn-cs"/>
        </a:defRPr>
      </a:lvl2pPr>
      <a:lvl3pPr marL="3200400" indent="-640080" algn="l" defTabSz="2560320" rtl="0" eaLnBrk="1" latinLnBrk="0" hangingPunct="1">
        <a:lnSpc>
          <a:spcPct val="90000"/>
        </a:lnSpc>
        <a:spcBef>
          <a:spcPts val="1400"/>
        </a:spcBef>
        <a:buFont typeface="Arial" panose="020B0604020202020204" pitchFamily="34" charset="0"/>
        <a:buChar char="•"/>
        <a:defRPr sz="5600" kern="1200">
          <a:solidFill>
            <a:schemeClr val="tx1"/>
          </a:solidFill>
          <a:latin typeface="+mn-lt"/>
          <a:ea typeface="+mn-ea"/>
          <a:cs typeface="+mn-cs"/>
        </a:defRPr>
      </a:lvl3pPr>
      <a:lvl4pPr marL="448056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4pPr>
      <a:lvl5pPr marL="576072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5pPr>
      <a:lvl6pPr marL="704088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6pPr>
      <a:lvl7pPr marL="832104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7pPr>
      <a:lvl8pPr marL="960120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8pPr>
      <a:lvl9pPr marL="10881360" indent="-640080" algn="l" defTabSz="2560320" rtl="0" eaLnBrk="1" latinLnBrk="0" hangingPunct="1">
        <a:lnSpc>
          <a:spcPct val="90000"/>
        </a:lnSpc>
        <a:spcBef>
          <a:spcPts val="1400"/>
        </a:spcBef>
        <a:buFont typeface="Arial" panose="020B0604020202020204" pitchFamily="34" charset="0"/>
        <a:buChar char="•"/>
        <a:defRPr sz="5040" kern="1200">
          <a:solidFill>
            <a:schemeClr val="tx1"/>
          </a:solidFill>
          <a:latin typeface="+mn-lt"/>
          <a:ea typeface="+mn-ea"/>
          <a:cs typeface="+mn-cs"/>
        </a:defRPr>
      </a:lvl9pPr>
    </p:bodyStyle>
    <p:otherStyle>
      <a:defPPr>
        <a:defRPr lang="en-US"/>
      </a:defPPr>
      <a:lvl1pPr marL="0" algn="l" defTabSz="2560320" rtl="0" eaLnBrk="1" latinLnBrk="0" hangingPunct="1">
        <a:defRPr sz="5040" kern="1200">
          <a:solidFill>
            <a:schemeClr val="tx1"/>
          </a:solidFill>
          <a:latin typeface="+mn-lt"/>
          <a:ea typeface="+mn-ea"/>
          <a:cs typeface="+mn-cs"/>
        </a:defRPr>
      </a:lvl1pPr>
      <a:lvl2pPr marL="1280160" algn="l" defTabSz="2560320" rtl="0" eaLnBrk="1" latinLnBrk="0" hangingPunct="1">
        <a:defRPr sz="5040" kern="1200">
          <a:solidFill>
            <a:schemeClr val="tx1"/>
          </a:solidFill>
          <a:latin typeface="+mn-lt"/>
          <a:ea typeface="+mn-ea"/>
          <a:cs typeface="+mn-cs"/>
        </a:defRPr>
      </a:lvl2pPr>
      <a:lvl3pPr marL="2560320" algn="l" defTabSz="2560320" rtl="0" eaLnBrk="1" latinLnBrk="0" hangingPunct="1">
        <a:defRPr sz="5040" kern="1200">
          <a:solidFill>
            <a:schemeClr val="tx1"/>
          </a:solidFill>
          <a:latin typeface="+mn-lt"/>
          <a:ea typeface="+mn-ea"/>
          <a:cs typeface="+mn-cs"/>
        </a:defRPr>
      </a:lvl3pPr>
      <a:lvl4pPr marL="3840480" algn="l" defTabSz="2560320" rtl="0" eaLnBrk="1" latinLnBrk="0" hangingPunct="1">
        <a:defRPr sz="5040" kern="1200">
          <a:solidFill>
            <a:schemeClr val="tx1"/>
          </a:solidFill>
          <a:latin typeface="+mn-lt"/>
          <a:ea typeface="+mn-ea"/>
          <a:cs typeface="+mn-cs"/>
        </a:defRPr>
      </a:lvl4pPr>
      <a:lvl5pPr marL="5120640" algn="l" defTabSz="2560320" rtl="0" eaLnBrk="1" latinLnBrk="0" hangingPunct="1">
        <a:defRPr sz="5040" kern="1200">
          <a:solidFill>
            <a:schemeClr val="tx1"/>
          </a:solidFill>
          <a:latin typeface="+mn-lt"/>
          <a:ea typeface="+mn-ea"/>
          <a:cs typeface="+mn-cs"/>
        </a:defRPr>
      </a:lvl5pPr>
      <a:lvl6pPr marL="6400800" algn="l" defTabSz="2560320" rtl="0" eaLnBrk="1" latinLnBrk="0" hangingPunct="1">
        <a:defRPr sz="5040" kern="1200">
          <a:solidFill>
            <a:schemeClr val="tx1"/>
          </a:solidFill>
          <a:latin typeface="+mn-lt"/>
          <a:ea typeface="+mn-ea"/>
          <a:cs typeface="+mn-cs"/>
        </a:defRPr>
      </a:lvl6pPr>
      <a:lvl7pPr marL="7680960" algn="l" defTabSz="2560320" rtl="0" eaLnBrk="1" latinLnBrk="0" hangingPunct="1">
        <a:defRPr sz="5040" kern="1200">
          <a:solidFill>
            <a:schemeClr val="tx1"/>
          </a:solidFill>
          <a:latin typeface="+mn-lt"/>
          <a:ea typeface="+mn-ea"/>
          <a:cs typeface="+mn-cs"/>
        </a:defRPr>
      </a:lvl7pPr>
      <a:lvl8pPr marL="8961120" algn="l" defTabSz="2560320" rtl="0" eaLnBrk="1" latinLnBrk="0" hangingPunct="1">
        <a:defRPr sz="5040" kern="1200">
          <a:solidFill>
            <a:schemeClr val="tx1"/>
          </a:solidFill>
          <a:latin typeface="+mn-lt"/>
          <a:ea typeface="+mn-ea"/>
          <a:cs typeface="+mn-cs"/>
        </a:defRPr>
      </a:lvl8pPr>
      <a:lvl9pPr marL="10241280" algn="l" defTabSz="2560320" rtl="0" eaLnBrk="1" latinLnBrk="0" hangingPunct="1">
        <a:defRPr sz="50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9.jpg"/><Relationship Id="rId3" Type="http://schemas.openxmlformats.org/officeDocument/2006/relationships/image" Target="../media/image2.png"/><Relationship Id="rId12" Type="http://schemas.openxmlformats.org/officeDocument/2006/relationships/image" Target="../media/image8.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7.jpg"/><Relationship Id="rId5" Type="http://schemas.openxmlformats.org/officeDocument/2006/relationships/image" Target="../media/image4.pn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22B816A-EC55-D850-BA1A-AEF6D11E1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1202" y="239342"/>
            <a:ext cx="3448925" cy="34669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6304916-B5AC-BC55-9334-FB039616523C}"/>
              </a:ext>
            </a:extLst>
          </p:cNvPr>
          <p:cNvSpPr txBox="1"/>
          <p:nvPr/>
        </p:nvSpPr>
        <p:spPr>
          <a:xfrm>
            <a:off x="6419085" y="695544"/>
            <a:ext cx="12765024" cy="3046988"/>
          </a:xfrm>
          <a:prstGeom prst="rect">
            <a:avLst/>
          </a:prstGeom>
          <a:noFill/>
        </p:spPr>
        <p:txBody>
          <a:bodyPr wrap="square" rtlCol="0">
            <a:spAutoFit/>
          </a:bodyPr>
          <a:lstStyle/>
          <a:p>
            <a:pPr algn="ctr"/>
            <a:r>
              <a:rPr lang="en-US" sz="3200" b="1" dirty="0"/>
              <a:t>Optimal Control Discrete-Time Neural Network                                               for Nonlinear Systems with Known Dynamics</a:t>
            </a:r>
          </a:p>
          <a:p>
            <a:pPr algn="ctr"/>
            <a:endParaRPr lang="en-US" sz="3200" b="1" dirty="0"/>
          </a:p>
          <a:p>
            <a:pPr algn="ctr"/>
            <a:r>
              <a:rPr lang="en-US" sz="3200" dirty="0"/>
              <a:t>Daniel Castaneda, University of California, Riverside</a:t>
            </a:r>
          </a:p>
          <a:p>
            <a:pPr algn="ctr"/>
            <a:r>
              <a:rPr lang="en-US" sz="3200" dirty="0" err="1"/>
              <a:t>Pavlo</a:t>
            </a:r>
            <a:r>
              <a:rPr lang="en-US" sz="3200" dirty="0"/>
              <a:t> Tymoshchuk, University of North Texas</a:t>
            </a:r>
          </a:p>
          <a:p>
            <a:pPr algn="ctr"/>
            <a:r>
              <a:rPr lang="en-US" sz="3200" dirty="0"/>
              <a:t>dcast162@ucr.edu; </a:t>
            </a:r>
            <a:r>
              <a:rPr lang="en-US" sz="3200" b="0" i="0" dirty="0">
                <a:solidFill>
                  <a:srgbClr val="222222"/>
                </a:solidFill>
                <a:effectLst/>
                <a:latin typeface="Google Sans"/>
              </a:rPr>
              <a:t>Pavlo.Tymoshchuk@unt.edu</a:t>
            </a:r>
            <a:endParaRPr lang="en-US" sz="3200" dirty="0"/>
          </a:p>
        </p:txBody>
      </p:sp>
      <p:pic>
        <p:nvPicPr>
          <p:cNvPr id="1028" name="Picture 4" descr="ISHVO' &#10;suogrugsul ">
            <a:extLst>
              <a:ext uri="{FF2B5EF4-FFF2-40B4-BE49-F238E27FC236}">
                <a16:creationId xmlns:a16="http://schemas.microsoft.com/office/drawing/2014/main" id="{1BC28776-C0B3-F27C-120E-EB90A1E9A0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073" y="658368"/>
            <a:ext cx="4638675" cy="13144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CR Logo | Brand Identity">
            <a:extLst>
              <a:ext uri="{FF2B5EF4-FFF2-40B4-BE49-F238E27FC236}">
                <a16:creationId xmlns:a16="http://schemas.microsoft.com/office/drawing/2014/main" id="{9D0A30E4-E4A8-8191-DE03-00AA235F8C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073" y="2212868"/>
            <a:ext cx="2340449" cy="12443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niversity Marks (Logos) | UNT Identity Guide">
            <a:extLst>
              <a:ext uri="{FF2B5EF4-FFF2-40B4-BE49-F238E27FC236}">
                <a16:creationId xmlns:a16="http://schemas.microsoft.com/office/drawing/2014/main" id="{B070D8A4-69DB-F896-297B-BE1853E769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0175" y="2212867"/>
            <a:ext cx="2910737" cy="124434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6A16B12D-267F-75C1-71EB-E04F5FCAE12D}"/>
              </a:ext>
            </a:extLst>
          </p:cNvPr>
          <p:cNvSpPr/>
          <p:nvPr/>
        </p:nvSpPr>
        <p:spPr>
          <a:xfrm>
            <a:off x="1103073" y="4279392"/>
            <a:ext cx="23397054" cy="212542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B13F2CC-96B6-DC27-B895-F3AC002F6D8E}"/>
              </a:ext>
            </a:extLst>
          </p:cNvPr>
          <p:cNvSpPr/>
          <p:nvPr/>
        </p:nvSpPr>
        <p:spPr>
          <a:xfrm>
            <a:off x="1103072" y="4279391"/>
            <a:ext cx="23397053" cy="488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Abstract</a:t>
            </a:r>
            <a:endParaRPr lang="en-US" dirty="0"/>
          </a:p>
        </p:txBody>
      </p:sp>
      <p:sp>
        <p:nvSpPr>
          <p:cNvPr id="10" name="TextBox 9">
            <a:extLst>
              <a:ext uri="{FF2B5EF4-FFF2-40B4-BE49-F238E27FC236}">
                <a16:creationId xmlns:a16="http://schemas.microsoft.com/office/drawing/2014/main" id="{C0E9D3F4-1A49-932D-D425-33AD3730F533}"/>
              </a:ext>
            </a:extLst>
          </p:cNvPr>
          <p:cNvSpPr txBox="1"/>
          <p:nvPr/>
        </p:nvSpPr>
        <p:spPr>
          <a:xfrm>
            <a:off x="1103071" y="4762006"/>
            <a:ext cx="23397054" cy="1323439"/>
          </a:xfrm>
          <a:prstGeom prst="rect">
            <a:avLst/>
          </a:prstGeom>
          <a:noFill/>
        </p:spPr>
        <p:txBody>
          <a:bodyPr wrap="square" rtlCol="0">
            <a:spAutoFit/>
          </a:bodyPr>
          <a:lstStyle/>
          <a:p>
            <a:pPr algn="just"/>
            <a:r>
              <a:rPr lang="en-US" sz="2000" b="0" dirty="0">
                <a:solidFill>
                  <a:srgbClr val="000000"/>
                </a:solidFill>
                <a:effectLst/>
                <a:ea typeface="SimSun" panose="02010600030101010101" pitchFamily="2" charset="-122"/>
              </a:rPr>
              <a:t>An </a:t>
            </a:r>
            <a:r>
              <a:rPr lang="en-US" sz="2000" b="0" dirty="0">
                <a:effectLst/>
                <a:ea typeface="SimSun" panose="02010600030101010101" pitchFamily="2" charset="-122"/>
              </a:rPr>
              <a:t>o</a:t>
            </a:r>
            <a:r>
              <a:rPr lang="en-US" sz="2000" b="0" dirty="0">
                <a:solidFill>
                  <a:srgbClr val="000000"/>
                </a:solidFill>
                <a:effectLst/>
                <a:ea typeface="SimSun" panose="02010600030101010101" pitchFamily="2" charset="-122"/>
              </a:rPr>
              <a:t>ptimal control </a:t>
            </a:r>
            <a:r>
              <a:rPr lang="en-US" sz="2000" b="0" dirty="0">
                <a:effectLst/>
                <a:ea typeface="SimSun" panose="02010600030101010101" pitchFamily="2" charset="-122"/>
              </a:rPr>
              <a:t>discrete-time </a:t>
            </a:r>
            <a:r>
              <a:rPr lang="en-US" sz="2000" b="0" dirty="0">
                <a:solidFill>
                  <a:srgbClr val="000000"/>
                </a:solidFill>
                <a:effectLst/>
                <a:ea typeface="SimSun" panose="02010600030101010101" pitchFamily="2" charset="-122"/>
              </a:rPr>
              <a:t>neural network for</a:t>
            </a:r>
            <a:r>
              <a:rPr lang="en-US" sz="2000" b="0" dirty="0">
                <a:effectLst/>
                <a:ea typeface="SimSun" panose="02010600030101010101" pitchFamily="2" charset="-122"/>
              </a:rPr>
              <a:t> affine in the inputs nonlinear systems with the known dynamics has been designed. The network is described by a system of difference equations with variable structure. The control is derived analytically. A functional block-diagram of the network is constructed. The network does not require any training and is of moderate complexity. It is shown that the discrete-time state-variable trajectories of the network are globally asymptotically stable and globally asymptotically convergent to steady states. Computer simulations confirming theoretical results and illustrating a performance of the network are</a:t>
            </a:r>
            <a:r>
              <a:rPr lang="en-US" sz="2000" b="0" dirty="0">
                <a:effectLst/>
                <a:ea typeface="Times New Roman" panose="02020603050405020304" pitchFamily="18" charset="0"/>
              </a:rPr>
              <a:t> provided using </a:t>
            </a:r>
            <a:r>
              <a:rPr lang="en-US" sz="2000" dirty="0"/>
              <a:t>MATLAB</a:t>
            </a:r>
            <a:r>
              <a:rPr lang="en-US" sz="2000" b="0" dirty="0">
                <a:effectLst/>
                <a:ea typeface="Times New Roman" panose="02020603050405020304" pitchFamily="18" charset="0"/>
              </a:rPr>
              <a:t>, Simulink and C++.</a:t>
            </a:r>
            <a:endParaRPr lang="en-US" sz="2000" dirty="0"/>
          </a:p>
        </p:txBody>
      </p:sp>
      <p:sp>
        <p:nvSpPr>
          <p:cNvPr id="17" name="Rectangle 16">
            <a:extLst>
              <a:ext uri="{FF2B5EF4-FFF2-40B4-BE49-F238E27FC236}">
                <a16:creationId xmlns:a16="http://schemas.microsoft.com/office/drawing/2014/main" id="{A6C947F4-2EA1-AA9C-D12A-1309C42D1582}"/>
              </a:ext>
            </a:extLst>
          </p:cNvPr>
          <p:cNvSpPr/>
          <p:nvPr/>
        </p:nvSpPr>
        <p:spPr>
          <a:xfrm>
            <a:off x="1098310" y="18688059"/>
            <a:ext cx="23397054" cy="120033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5DB32C1-B3BC-AA4B-1851-E32534538EB9}"/>
              </a:ext>
            </a:extLst>
          </p:cNvPr>
          <p:cNvSpPr/>
          <p:nvPr/>
        </p:nvSpPr>
        <p:spPr>
          <a:xfrm>
            <a:off x="1098310" y="18688059"/>
            <a:ext cx="23397054" cy="488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Acknowledgements</a:t>
            </a:r>
            <a:endParaRPr lang="en-US" dirty="0"/>
          </a:p>
        </p:txBody>
      </p:sp>
      <p:sp>
        <p:nvSpPr>
          <p:cNvPr id="19" name="TextBox 18">
            <a:extLst>
              <a:ext uri="{FF2B5EF4-FFF2-40B4-BE49-F238E27FC236}">
                <a16:creationId xmlns:a16="http://schemas.microsoft.com/office/drawing/2014/main" id="{174F158E-C708-1C94-5D27-E660600041A3}"/>
              </a:ext>
            </a:extLst>
          </p:cNvPr>
          <p:cNvSpPr txBox="1"/>
          <p:nvPr/>
        </p:nvSpPr>
        <p:spPr>
          <a:xfrm>
            <a:off x="1096884" y="19176080"/>
            <a:ext cx="23397054" cy="707886"/>
          </a:xfrm>
          <a:prstGeom prst="rect">
            <a:avLst/>
          </a:prstGeom>
          <a:noFill/>
        </p:spPr>
        <p:txBody>
          <a:bodyPr wrap="square" rtlCol="0">
            <a:spAutoFit/>
          </a:bodyPr>
          <a:lstStyle/>
          <a:p>
            <a:r>
              <a:rPr lang="en-US" sz="2000" b="0" i="0" u="none" strike="noStrike" dirty="0">
                <a:solidFill>
                  <a:srgbClr val="000000"/>
                </a:solidFill>
                <a:effectLst/>
                <a:latin typeface="Calibri" panose="020F0502020204030204" pitchFamily="34" charset="0"/>
              </a:rPr>
              <a:t>This material is based upon work supported by the National Science Foundation </a:t>
            </a:r>
            <a:r>
              <a:rPr lang="en-US" sz="2000" b="0" i="0" u="none" strike="noStrike">
                <a:solidFill>
                  <a:srgbClr val="000000"/>
                </a:solidFill>
                <a:effectLst/>
                <a:latin typeface="Calibri" panose="020F0502020204030204" pitchFamily="34" charset="0"/>
              </a:rPr>
              <a:t>under Grant number CNS-2137791. </a:t>
            </a:r>
            <a:r>
              <a:rPr lang="en-US" sz="2000" b="0" i="0" u="none" strike="noStrike" dirty="0">
                <a:solidFill>
                  <a:srgbClr val="000000"/>
                </a:solidFill>
                <a:effectLst/>
                <a:latin typeface="Calibri" panose="020F0502020204030204" pitchFamily="34" charset="0"/>
              </a:rPr>
              <a:t>Any opinions, findings, and conclusions or recommendations expressed in this material are those of the authors and do not necessarily reflect the views of the National Science Foundation.</a:t>
            </a:r>
            <a:endParaRPr lang="en-US" sz="2000" dirty="0"/>
          </a:p>
        </p:txBody>
      </p:sp>
      <p:grpSp>
        <p:nvGrpSpPr>
          <p:cNvPr id="27" name="Group 26">
            <a:extLst>
              <a:ext uri="{FF2B5EF4-FFF2-40B4-BE49-F238E27FC236}">
                <a16:creationId xmlns:a16="http://schemas.microsoft.com/office/drawing/2014/main" id="{04491286-BEAB-766E-DFD9-A09CD103E02A}"/>
              </a:ext>
            </a:extLst>
          </p:cNvPr>
          <p:cNvGrpSpPr/>
          <p:nvPr/>
        </p:nvGrpSpPr>
        <p:grpSpPr>
          <a:xfrm>
            <a:off x="18124873" y="16700749"/>
            <a:ext cx="6375704" cy="1743299"/>
            <a:chOff x="17601373" y="16015887"/>
            <a:chExt cx="5982213" cy="1743299"/>
          </a:xfrm>
        </p:grpSpPr>
        <p:sp>
          <p:nvSpPr>
            <p:cNvPr id="24" name="Rectangle 23">
              <a:extLst>
                <a:ext uri="{FF2B5EF4-FFF2-40B4-BE49-F238E27FC236}">
                  <a16:creationId xmlns:a16="http://schemas.microsoft.com/office/drawing/2014/main" id="{CEAE7ACE-7DAC-4895-1136-35CD85BB59D0}"/>
                </a:ext>
              </a:extLst>
            </p:cNvPr>
            <p:cNvSpPr/>
            <p:nvPr/>
          </p:nvSpPr>
          <p:spPr>
            <a:xfrm>
              <a:off x="17601373" y="16015887"/>
              <a:ext cx="5982213" cy="1743299"/>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57B0A82-29C1-921B-D6BD-DC6DFDBBA0F0}"/>
                </a:ext>
              </a:extLst>
            </p:cNvPr>
            <p:cNvSpPr/>
            <p:nvPr/>
          </p:nvSpPr>
          <p:spPr>
            <a:xfrm>
              <a:off x="17601374" y="16015887"/>
              <a:ext cx="5982210" cy="488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References</a:t>
              </a:r>
              <a:endParaRPr lang="en-US" dirty="0"/>
            </a:p>
          </p:txBody>
        </p:sp>
        <p:sp>
          <p:nvSpPr>
            <p:cNvPr id="26" name="TextBox 25">
              <a:extLst>
                <a:ext uri="{FF2B5EF4-FFF2-40B4-BE49-F238E27FC236}">
                  <a16:creationId xmlns:a16="http://schemas.microsoft.com/office/drawing/2014/main" id="{5376CEBA-CDD7-B503-DCFE-7704716748FE}"/>
                </a:ext>
              </a:extLst>
            </p:cNvPr>
            <p:cNvSpPr txBox="1"/>
            <p:nvPr/>
          </p:nvSpPr>
          <p:spPr>
            <a:xfrm>
              <a:off x="17601375" y="16555376"/>
              <a:ext cx="5982210" cy="1200329"/>
            </a:xfrm>
            <a:prstGeom prst="rect">
              <a:avLst/>
            </a:prstGeom>
            <a:noFill/>
          </p:spPr>
          <p:txBody>
            <a:bodyPr wrap="square" rtlCol="0">
              <a:spAutoFit/>
            </a:bodyPr>
            <a:lstStyle/>
            <a:p>
              <a:pPr algn="just"/>
              <a:r>
                <a:rPr lang="en-US" dirty="0"/>
                <a:t>[1] P. Tymoshchuk, “Optimal control for continuous-time scalar nonlinear systems with known dynamics”, in </a:t>
              </a:r>
              <a:r>
                <a:rPr lang="en-US" i="1" dirty="0"/>
                <a:t>Proc. 16th Int. Conf. Control, Automation, Robotics and Vision</a:t>
              </a:r>
              <a:r>
                <a:rPr lang="en-US" dirty="0"/>
                <a:t>, Shenzhen, China, 2020, pp. 695–700.</a:t>
              </a:r>
            </a:p>
          </p:txBody>
        </p:sp>
      </p:grpSp>
      <p:grpSp>
        <p:nvGrpSpPr>
          <p:cNvPr id="32" name="Group 31">
            <a:extLst>
              <a:ext uri="{FF2B5EF4-FFF2-40B4-BE49-F238E27FC236}">
                <a16:creationId xmlns:a16="http://schemas.microsoft.com/office/drawing/2014/main" id="{1F6E2D2F-4339-F8E6-66C6-0C8F5D89BB89}"/>
              </a:ext>
            </a:extLst>
          </p:cNvPr>
          <p:cNvGrpSpPr/>
          <p:nvPr/>
        </p:nvGrpSpPr>
        <p:grpSpPr>
          <a:xfrm>
            <a:off x="1096884" y="11342876"/>
            <a:ext cx="6418042" cy="7119062"/>
            <a:chOff x="8907889" y="9599219"/>
            <a:chExt cx="6418042" cy="7119062"/>
          </a:xfrm>
        </p:grpSpPr>
        <p:sp>
          <p:nvSpPr>
            <p:cNvPr id="52" name="Rectangle 51">
              <a:extLst>
                <a:ext uri="{FF2B5EF4-FFF2-40B4-BE49-F238E27FC236}">
                  <a16:creationId xmlns:a16="http://schemas.microsoft.com/office/drawing/2014/main" id="{9442BC5B-650B-40E4-3429-23510FCCE42C}"/>
                </a:ext>
              </a:extLst>
            </p:cNvPr>
            <p:cNvSpPr/>
            <p:nvPr/>
          </p:nvSpPr>
          <p:spPr>
            <a:xfrm>
              <a:off x="8907890" y="9599219"/>
              <a:ext cx="6418041" cy="711906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8C9148AB-0E7C-58AF-2FE7-48197471F3C8}"/>
                </a:ext>
              </a:extLst>
            </p:cNvPr>
            <p:cNvSpPr/>
            <p:nvPr/>
          </p:nvSpPr>
          <p:spPr>
            <a:xfrm>
              <a:off x="8907889" y="9599219"/>
              <a:ext cx="6418041" cy="6001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Methodology</a:t>
              </a:r>
              <a:endParaRPr lang="en-US" dirty="0"/>
            </a:p>
          </p:txBody>
        </p:sp>
        <p:sp>
          <p:nvSpPr>
            <p:cNvPr id="54" name="TextBox 53">
              <a:extLst>
                <a:ext uri="{FF2B5EF4-FFF2-40B4-BE49-F238E27FC236}">
                  <a16:creationId xmlns:a16="http://schemas.microsoft.com/office/drawing/2014/main" id="{354BC55C-F042-B07B-3D76-037BE744F2F4}"/>
                </a:ext>
              </a:extLst>
            </p:cNvPr>
            <p:cNvSpPr txBox="1"/>
            <p:nvPr/>
          </p:nvSpPr>
          <p:spPr>
            <a:xfrm>
              <a:off x="8907889" y="10199367"/>
              <a:ext cx="6418041" cy="6247864"/>
            </a:xfrm>
            <a:prstGeom prst="rect">
              <a:avLst/>
            </a:prstGeom>
            <a:noFill/>
          </p:spPr>
          <p:txBody>
            <a:bodyPr wrap="square" rtlCol="0">
              <a:spAutoFit/>
            </a:bodyPr>
            <a:lstStyle/>
            <a:p>
              <a:pPr algn="just"/>
              <a:r>
                <a:rPr lang="en-US" sz="2000" dirty="0"/>
                <a:t>	A functional block-diagram of the optimal control discrete-time neural network for nonlinear systems with knowns dynamics is designed on the basis of difference equation corresponding the differential equation presented in [1].</a:t>
              </a:r>
            </a:p>
            <a:p>
              <a:pPr algn="just"/>
              <a:r>
                <a:rPr lang="en-US" sz="2000" dirty="0"/>
                <a:t>	The discrete-time neural network is simulated in MATLAB, Simulink and C++. Accuracy and elapsed time obtained by these simulations are compared. </a:t>
              </a:r>
            </a:p>
            <a:p>
              <a:pPr algn="just"/>
              <a:r>
                <a:rPr lang="en-US" sz="2000" dirty="0"/>
                <a:t>	Stability and convergence of state-variable trajectories of the network to steady modes, its operation accuracy and speed depending on value of parameter </a:t>
              </a:r>
              <a:r>
                <a:rPr lang="el-GR" sz="2000" dirty="0"/>
                <a:t>γ</a:t>
              </a:r>
              <a:r>
                <a:rPr lang="en-US" sz="2000" dirty="0"/>
                <a:t> are investigated by the computer simulations.</a:t>
              </a:r>
            </a:p>
            <a:p>
              <a:pPr algn="just"/>
              <a:r>
                <a:rPr lang="en-US" sz="2000" dirty="0"/>
                <a:t>	In order to simulate operation errors of inputs and inaccuracies of functional block-diagram parts, additive uniformly distributed random noise and time delays are applied. In particular, the random noise of Gaussian distribution with mean equal to 0.005 and variance equal to 0.001 is employed. Moreover, 11 delay units with delays equal to 1 sample each are added to the functional block-diagram parts.</a:t>
              </a:r>
            </a:p>
          </p:txBody>
        </p:sp>
      </p:grpSp>
      <p:sp>
        <p:nvSpPr>
          <p:cNvPr id="63" name="Rectangle 62">
            <a:extLst>
              <a:ext uri="{FF2B5EF4-FFF2-40B4-BE49-F238E27FC236}">
                <a16:creationId xmlns:a16="http://schemas.microsoft.com/office/drawing/2014/main" id="{383D29EA-4663-500A-5CBE-4767DE31E6C0}"/>
              </a:ext>
            </a:extLst>
          </p:cNvPr>
          <p:cNvSpPr/>
          <p:nvPr/>
        </p:nvSpPr>
        <p:spPr>
          <a:xfrm>
            <a:off x="18088279" y="6666233"/>
            <a:ext cx="6422153" cy="7456919"/>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 name="Rectangle 1023">
            <a:extLst>
              <a:ext uri="{FF2B5EF4-FFF2-40B4-BE49-F238E27FC236}">
                <a16:creationId xmlns:a16="http://schemas.microsoft.com/office/drawing/2014/main" id="{6547F963-DD5F-9415-E690-6CEB9160137A}"/>
              </a:ext>
            </a:extLst>
          </p:cNvPr>
          <p:cNvSpPr/>
          <p:nvPr/>
        </p:nvSpPr>
        <p:spPr>
          <a:xfrm>
            <a:off x="18088278" y="6666236"/>
            <a:ext cx="6422153" cy="6001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Results</a:t>
            </a:r>
            <a:endParaRPr lang="en-US" dirty="0"/>
          </a:p>
        </p:txBody>
      </p:sp>
      <p:sp>
        <p:nvSpPr>
          <p:cNvPr id="1025" name="TextBox 1024">
            <a:extLst>
              <a:ext uri="{FF2B5EF4-FFF2-40B4-BE49-F238E27FC236}">
                <a16:creationId xmlns:a16="http://schemas.microsoft.com/office/drawing/2014/main" id="{18A345ED-0C7A-8A99-5044-81BBFA5BF257}"/>
              </a:ext>
            </a:extLst>
          </p:cNvPr>
          <p:cNvSpPr txBox="1"/>
          <p:nvPr/>
        </p:nvSpPr>
        <p:spPr>
          <a:xfrm>
            <a:off x="18101647" y="7281296"/>
            <a:ext cx="6422153" cy="6863417"/>
          </a:xfrm>
          <a:prstGeom prst="rect">
            <a:avLst/>
          </a:prstGeom>
          <a:noFill/>
        </p:spPr>
        <p:txBody>
          <a:bodyPr wrap="square" rtlCol="0">
            <a:spAutoFit/>
          </a:bodyPr>
          <a:lstStyle/>
          <a:p>
            <a:pPr algn="just"/>
            <a:r>
              <a:rPr lang="en-US" sz="2000" dirty="0"/>
              <a:t>        The operational errors of system implementation in MATLAB and C++ are close to zero in steady-state modes. In transient modes, the difference between these errors is ranged from zero to 100%.  </a:t>
            </a:r>
          </a:p>
          <a:p>
            <a:pPr algn="just"/>
            <a:r>
              <a:rPr lang="en-US" sz="2000" dirty="0"/>
              <a:t>	Computer simulations confirm results of theoretical derivations according to which number of time steps for convergence of state variable trajectories to steady-state modes of the system decreases with increasing a value of parameter </a:t>
            </a:r>
            <a:r>
              <a:rPr lang="el-GR" sz="2000" dirty="0"/>
              <a:t>γ</a:t>
            </a:r>
            <a:r>
              <a:rPr lang="en-US" sz="2000" dirty="0"/>
              <a:t>. In particular, the state variable trajectories of the system converge to steady modes in 12 time steps for </a:t>
            </a:r>
            <a:r>
              <a:rPr lang="el-GR" sz="2000" dirty="0"/>
              <a:t>γ</a:t>
            </a:r>
            <a:r>
              <a:rPr lang="en-US" sz="2000" dirty="0"/>
              <a:t>=0.05. </a:t>
            </a:r>
          </a:p>
          <a:p>
            <a:pPr algn="just"/>
            <a:r>
              <a:rPr lang="en-US" sz="2000" dirty="0"/>
              <a:t>	According to the hardware implementation simulations, small changes of system parameters do not lead to large changes of state variables, and thus the system is not sensitive and is stable. In particular, a </a:t>
            </a:r>
            <a:r>
              <a:rPr lang="en-US" sz="2000" b="0" i="0" dirty="0">
                <a:solidFill>
                  <a:srgbClr val="202124"/>
                </a:solidFill>
                <a:effectLst/>
                <a:latin typeface="Google Sans"/>
              </a:rPr>
              <a:t>±</a:t>
            </a:r>
            <a:r>
              <a:rPr lang="en-US" sz="2000" dirty="0"/>
              <a:t>0.25 change in system parameters has around a difference of 0.20 in the output.</a:t>
            </a:r>
          </a:p>
          <a:p>
            <a:pPr algn="just"/>
            <a:r>
              <a:rPr lang="en-US" sz="2000" dirty="0"/>
              <a:t>	The elapsed time of the optimal control nonlinear system state variable trajectories to steady modes is equal to 23.101 </a:t>
            </a:r>
            <a:r>
              <a:rPr lang="en-US" sz="2000" dirty="0" err="1"/>
              <a:t>ms</a:t>
            </a:r>
            <a:r>
              <a:rPr lang="en-US" sz="2000" dirty="0"/>
              <a:t> in MATLAB and 0.22634 </a:t>
            </a:r>
            <a:r>
              <a:rPr lang="en-US" sz="2000" dirty="0" err="1"/>
              <a:t>ms</a:t>
            </a:r>
            <a:r>
              <a:rPr lang="en-US" sz="2000" dirty="0"/>
              <a:t> in C++. This means that the system implemented in C++ is in two order faster comparatively to one implemented in MATLAB. </a:t>
            </a:r>
          </a:p>
        </p:txBody>
      </p:sp>
      <p:sp>
        <p:nvSpPr>
          <p:cNvPr id="1029" name="Rectangle 1028">
            <a:extLst>
              <a:ext uri="{FF2B5EF4-FFF2-40B4-BE49-F238E27FC236}">
                <a16:creationId xmlns:a16="http://schemas.microsoft.com/office/drawing/2014/main" id="{2330B3B4-19F1-317B-E345-C130180B0051}"/>
              </a:ext>
            </a:extLst>
          </p:cNvPr>
          <p:cNvSpPr/>
          <p:nvPr/>
        </p:nvSpPr>
        <p:spPr>
          <a:xfrm>
            <a:off x="18078422" y="14484622"/>
            <a:ext cx="6422153" cy="185240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1030">
            <a:extLst>
              <a:ext uri="{FF2B5EF4-FFF2-40B4-BE49-F238E27FC236}">
                <a16:creationId xmlns:a16="http://schemas.microsoft.com/office/drawing/2014/main" id="{D22B6D8A-3031-F692-B36A-9224076D20B7}"/>
              </a:ext>
            </a:extLst>
          </p:cNvPr>
          <p:cNvSpPr/>
          <p:nvPr/>
        </p:nvSpPr>
        <p:spPr>
          <a:xfrm>
            <a:off x="18078425" y="14484622"/>
            <a:ext cx="6422150" cy="488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Future Work</a:t>
            </a:r>
            <a:endParaRPr lang="en-US" dirty="0"/>
          </a:p>
        </p:txBody>
      </p:sp>
      <p:sp>
        <p:nvSpPr>
          <p:cNvPr id="1033" name="TextBox 1032">
            <a:extLst>
              <a:ext uri="{FF2B5EF4-FFF2-40B4-BE49-F238E27FC236}">
                <a16:creationId xmlns:a16="http://schemas.microsoft.com/office/drawing/2014/main" id="{E834692F-16CD-D845-0450-8C355B760532}"/>
              </a:ext>
            </a:extLst>
          </p:cNvPr>
          <p:cNvSpPr txBox="1"/>
          <p:nvPr/>
        </p:nvSpPr>
        <p:spPr>
          <a:xfrm>
            <a:off x="18078420" y="15015841"/>
            <a:ext cx="6422150" cy="1323439"/>
          </a:xfrm>
          <a:prstGeom prst="rect">
            <a:avLst/>
          </a:prstGeom>
          <a:noFill/>
        </p:spPr>
        <p:txBody>
          <a:bodyPr wrap="square" rtlCol="0">
            <a:spAutoFit/>
          </a:bodyPr>
          <a:lstStyle/>
          <a:p>
            <a:pPr algn="just"/>
            <a:r>
              <a:rPr lang="en-US" sz="2000" dirty="0"/>
              <a:t>Future work is related to hardware implementation simulation of the optimal control discrete-time neural network for nonlinear systems with known dynamics in Cadence and/or LabVIEW and/or Arduino.</a:t>
            </a:r>
          </a:p>
        </p:txBody>
      </p:sp>
      <p:grpSp>
        <p:nvGrpSpPr>
          <p:cNvPr id="31" name="Group 30">
            <a:extLst>
              <a:ext uri="{FF2B5EF4-FFF2-40B4-BE49-F238E27FC236}">
                <a16:creationId xmlns:a16="http://schemas.microsoft.com/office/drawing/2014/main" id="{FA0E50EB-D355-D5C7-AFB8-53550F5B6A91}"/>
              </a:ext>
            </a:extLst>
          </p:cNvPr>
          <p:cNvGrpSpPr/>
          <p:nvPr/>
        </p:nvGrpSpPr>
        <p:grpSpPr>
          <a:xfrm>
            <a:off x="1127744" y="6662894"/>
            <a:ext cx="6422154" cy="4453865"/>
            <a:chOff x="1091166" y="6857211"/>
            <a:chExt cx="7442179" cy="4385801"/>
          </a:xfrm>
        </p:grpSpPr>
        <p:sp>
          <p:nvSpPr>
            <p:cNvPr id="21" name="Rectangle 20">
              <a:extLst>
                <a:ext uri="{FF2B5EF4-FFF2-40B4-BE49-F238E27FC236}">
                  <a16:creationId xmlns:a16="http://schemas.microsoft.com/office/drawing/2014/main" id="{6529C5A7-25A5-2E0F-9F3E-0192908E1F9F}"/>
                </a:ext>
              </a:extLst>
            </p:cNvPr>
            <p:cNvSpPr/>
            <p:nvPr/>
          </p:nvSpPr>
          <p:spPr>
            <a:xfrm>
              <a:off x="1095930" y="6857211"/>
              <a:ext cx="7437415" cy="438580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D866D7B-3B20-A02B-2296-F159507B1D35}"/>
                </a:ext>
              </a:extLst>
            </p:cNvPr>
            <p:cNvSpPr/>
            <p:nvPr/>
          </p:nvSpPr>
          <p:spPr>
            <a:xfrm>
              <a:off x="1095928" y="6857212"/>
              <a:ext cx="7437415" cy="6001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Introduction</a:t>
              </a:r>
              <a:endParaRPr lang="en-US" dirty="0"/>
            </a:p>
          </p:txBody>
        </p:sp>
        <p:sp>
          <p:nvSpPr>
            <p:cNvPr id="23" name="TextBox 22">
              <a:extLst>
                <a:ext uri="{FF2B5EF4-FFF2-40B4-BE49-F238E27FC236}">
                  <a16:creationId xmlns:a16="http://schemas.microsoft.com/office/drawing/2014/main" id="{02DA4557-856F-D45E-FF2F-0107267E4888}"/>
                </a:ext>
              </a:extLst>
            </p:cNvPr>
            <p:cNvSpPr txBox="1"/>
            <p:nvPr/>
          </p:nvSpPr>
          <p:spPr>
            <a:xfrm>
              <a:off x="1091166" y="7457360"/>
              <a:ext cx="7437415" cy="3424726"/>
            </a:xfrm>
            <a:prstGeom prst="rect">
              <a:avLst/>
            </a:prstGeom>
            <a:noFill/>
          </p:spPr>
          <p:txBody>
            <a:bodyPr wrap="square" rtlCol="0">
              <a:spAutoFit/>
            </a:bodyPr>
            <a:lstStyle/>
            <a:p>
              <a:pPr algn="just"/>
              <a:r>
                <a:rPr lang="en-US" sz="20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Optimal control provides generating the best possible output of the system relatively to the assigned criterion that maximizes the system performance. Optimal control problems are solved by using a </a:t>
              </a:r>
              <a:r>
                <a:rPr lang="en-US" sz="20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Pontryagin</a:t>
              </a:r>
              <a:r>
                <a:rPr lang="en-US" sz="20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minimum principle that gives a necessary condition for optimality or by determining a solution of the Hamilton-Jacobi-Bellman (HJB) equation, which is a sufficient condition. In the general case, the HJB equation is a nonlinear differential equation that does not have an analytical solution in multidimensional case. Therefore, the solution of optimal control problem is usually derived by numerical approaches. </a:t>
              </a:r>
              <a:endParaRPr lang="en-US" sz="2000" dirty="0">
                <a:effectLst/>
                <a:latin typeface="Calibri" panose="020F0502020204030204" pitchFamily="34" charset="0"/>
                <a:ea typeface="SimSun" panose="02010600030101010101" pitchFamily="2" charset="-122"/>
                <a:cs typeface="Calibri" panose="020F0502020204030204" pitchFamily="34" charset="0"/>
              </a:endParaRPr>
            </a:p>
          </p:txBody>
        </p:sp>
      </p:grpSp>
      <p:sp>
        <p:nvSpPr>
          <p:cNvPr id="35" name="TextBox 34">
            <a:extLst>
              <a:ext uri="{FF2B5EF4-FFF2-40B4-BE49-F238E27FC236}">
                <a16:creationId xmlns:a16="http://schemas.microsoft.com/office/drawing/2014/main" id="{4894F00A-7915-C390-00DD-1375574639A9}"/>
              </a:ext>
            </a:extLst>
          </p:cNvPr>
          <p:cNvSpPr txBox="1">
            <a:spLocks/>
          </p:cNvSpPr>
          <p:nvPr/>
        </p:nvSpPr>
        <p:spPr>
          <a:xfrm>
            <a:off x="7647380" y="10782300"/>
            <a:ext cx="5022558" cy="1477328"/>
          </a:xfrm>
          <a:prstGeom prst="rect">
            <a:avLst/>
          </a:prstGeom>
          <a:noFill/>
        </p:spPr>
        <p:txBody>
          <a:bodyPr wrap="square" rtlCol="0">
            <a:spAutoFit/>
          </a:bodyPr>
          <a:lstStyle/>
          <a:p>
            <a:pPr algn="just"/>
            <a:r>
              <a:rPr lang="en-US" dirty="0"/>
              <a:t>Fig. 1. The functional block-diagram of one-dimensional controlled nonlinear system with known dynamics described by difference equation corresponding the differential equation presented in [1].</a:t>
            </a:r>
          </a:p>
        </p:txBody>
      </p:sp>
      <p:sp>
        <p:nvSpPr>
          <p:cNvPr id="36" name="TextBox 35">
            <a:extLst>
              <a:ext uri="{FF2B5EF4-FFF2-40B4-BE49-F238E27FC236}">
                <a16:creationId xmlns:a16="http://schemas.microsoft.com/office/drawing/2014/main" id="{A9185BA0-8A41-827F-A37F-871461872590}"/>
              </a:ext>
            </a:extLst>
          </p:cNvPr>
          <p:cNvSpPr txBox="1">
            <a:spLocks/>
          </p:cNvSpPr>
          <p:nvPr/>
        </p:nvSpPr>
        <p:spPr>
          <a:xfrm>
            <a:off x="12775641" y="10815472"/>
            <a:ext cx="5312634" cy="1200329"/>
          </a:xfrm>
          <a:prstGeom prst="rect">
            <a:avLst/>
          </a:prstGeom>
          <a:noFill/>
        </p:spPr>
        <p:txBody>
          <a:bodyPr wrap="square" rtlCol="0">
            <a:spAutoFit/>
          </a:bodyPr>
          <a:lstStyle/>
          <a:p>
            <a:pPr algn="just"/>
            <a:r>
              <a:rPr lang="en-US" dirty="0"/>
              <a:t>Fig. 2. The functional block-diagram of hardware implementation simulation in Simulink environment of controlled nonlinear system of Example 2 from [1] with added random noise and time delays.</a:t>
            </a:r>
          </a:p>
        </p:txBody>
      </p:sp>
      <p:pic>
        <p:nvPicPr>
          <p:cNvPr id="37" name="Picture 36">
            <a:extLst>
              <a:ext uri="{FF2B5EF4-FFF2-40B4-BE49-F238E27FC236}">
                <a16:creationId xmlns:a16="http://schemas.microsoft.com/office/drawing/2014/main" id="{133A8CE4-3000-14BB-B8AB-A046E95215D9}"/>
              </a:ext>
            </a:extLst>
          </p:cNvPr>
          <p:cNvPicPr>
            <a:picLocks noChangeAspect="1"/>
          </p:cNvPicPr>
          <p:nvPr/>
        </p:nvPicPr>
        <p:blipFill>
          <a:blip r:embed="rId6"/>
          <a:stretch>
            <a:fillRect/>
          </a:stretch>
        </p:blipFill>
        <p:spPr>
          <a:xfrm>
            <a:off x="12807897" y="7017988"/>
            <a:ext cx="5207740" cy="3290495"/>
          </a:xfrm>
          <a:prstGeom prst="rect">
            <a:avLst/>
          </a:prstGeom>
        </p:spPr>
      </p:pic>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ADEDE76-CCEA-9AEE-875F-495CE81D3FF4}"/>
                  </a:ext>
                </a:extLst>
              </p:cNvPr>
              <p:cNvSpPr txBox="1">
                <a:spLocks/>
              </p:cNvSpPr>
              <p:nvPr/>
            </p:nvSpPr>
            <p:spPr>
              <a:xfrm>
                <a:off x="7566682" y="16427015"/>
                <a:ext cx="5108696" cy="1200329"/>
              </a:xfrm>
              <a:prstGeom prst="rect">
                <a:avLst/>
              </a:prstGeom>
              <a:noFill/>
            </p:spPr>
            <p:txBody>
              <a:bodyPr wrap="square" rtlCol="0">
                <a:spAutoFit/>
              </a:bodyPr>
              <a:lstStyle/>
              <a:p>
                <a:pPr algn="just"/>
                <a:r>
                  <a:rPr lang="en-US" dirty="0"/>
                  <a:t>Fig. 3. The dynamics of state variables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 </m:t>
                    </m:r>
                  </m:oMath>
                </a14:m>
                <a:r>
                  <a:rPr lang="en-US" dirty="0"/>
                  <a:t>trajectories to steady modes of the controlled nonlinear system of Example 2 from [1] obtained in normalized units in C++.</a:t>
                </a:r>
              </a:p>
            </p:txBody>
          </p:sp>
        </mc:Choice>
        <mc:Fallback xmlns="">
          <p:sp>
            <p:nvSpPr>
              <p:cNvPr id="39" name="TextBox 38">
                <a:extLst>
                  <a:ext uri="{FF2B5EF4-FFF2-40B4-BE49-F238E27FC236}">
                    <a16:creationId xmlns:a16="http://schemas.microsoft.com/office/drawing/2014/main" id="{9ADEDE76-CCEA-9AEE-875F-495CE81D3FF4}"/>
                  </a:ext>
                </a:extLst>
              </p:cNvPr>
              <p:cNvSpPr txBox="1">
                <a:spLocks noRot="1" noChangeAspect="1" noMove="1" noResize="1" noEditPoints="1" noAdjustHandles="1" noChangeArrowheads="1" noChangeShapeType="1" noTextEdit="1"/>
              </p:cNvSpPr>
              <p:nvPr/>
            </p:nvSpPr>
            <p:spPr>
              <a:xfrm>
                <a:off x="7566682" y="16427015"/>
                <a:ext cx="5108696" cy="1200329"/>
              </a:xfrm>
              <a:prstGeom prst="rect">
                <a:avLst/>
              </a:prstGeom>
              <a:blipFill>
                <a:blip r:embed="rId9"/>
                <a:stretch>
                  <a:fillRect l="-955" t="-3046" r="-1074" b="-71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7D6B7576-7DC9-89BB-93F4-A4E4E18B2BEF}"/>
                  </a:ext>
                </a:extLst>
              </p:cNvPr>
              <p:cNvSpPr txBox="1">
                <a:spLocks/>
              </p:cNvSpPr>
              <p:nvPr/>
            </p:nvSpPr>
            <p:spPr>
              <a:xfrm>
                <a:off x="12888530" y="16516439"/>
                <a:ext cx="5139557" cy="1477328"/>
              </a:xfrm>
              <a:prstGeom prst="rect">
                <a:avLst/>
              </a:prstGeom>
              <a:noFill/>
            </p:spPr>
            <p:txBody>
              <a:bodyPr wrap="square" rtlCol="0">
                <a:spAutoFit/>
              </a:bodyPr>
              <a:lstStyle/>
              <a:p>
                <a:pPr algn="just"/>
                <a:r>
                  <a:rPr lang="en-US" dirty="0"/>
                  <a:t>Fig. 4. The dynamics of the controlled nonlinear system state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oMath>
                </a14:m>
                <a:r>
                  <a:rPr lang="en-US" dirty="0"/>
                  <a:t> trajectories from Example 2 presented in [1] obtained by its hardware implementation simulation in Simulink in normalized units.</a:t>
                </a:r>
              </a:p>
            </p:txBody>
          </p:sp>
        </mc:Choice>
        <mc:Fallback>
          <p:sp>
            <p:nvSpPr>
              <p:cNvPr id="40" name="TextBox 39">
                <a:extLst>
                  <a:ext uri="{FF2B5EF4-FFF2-40B4-BE49-F238E27FC236}">
                    <a16:creationId xmlns:a16="http://schemas.microsoft.com/office/drawing/2014/main" id="{7D6B7576-7DC9-89BB-93F4-A4E4E18B2BEF}"/>
                  </a:ext>
                </a:extLst>
              </p:cNvPr>
              <p:cNvSpPr txBox="1">
                <a:spLocks noRot="1" noChangeAspect="1" noMove="1" noResize="1" noEditPoints="1" noAdjustHandles="1" noChangeArrowheads="1" noChangeShapeType="1" noTextEdit="1"/>
              </p:cNvSpPr>
              <p:nvPr/>
            </p:nvSpPr>
            <p:spPr>
              <a:xfrm>
                <a:off x="12888530" y="16516439"/>
                <a:ext cx="5139557" cy="1477328"/>
              </a:xfrm>
              <a:prstGeom prst="rect">
                <a:avLst/>
              </a:prstGeom>
              <a:blipFill>
                <a:blip r:embed="rId10"/>
                <a:stretch>
                  <a:fillRect l="-949" t="-2058" r="-1068" b="-5350"/>
                </a:stretch>
              </a:blipFill>
            </p:spPr>
            <p:txBody>
              <a:bodyPr/>
              <a:lstStyle/>
              <a:p>
                <a:r>
                  <a:rPr lang="en-US">
                    <a:noFill/>
                  </a:rPr>
                  <a:t> </a:t>
                </a:r>
              </a:p>
            </p:txBody>
          </p:sp>
        </mc:Fallback>
      </mc:AlternateContent>
      <p:pic>
        <p:nvPicPr>
          <p:cNvPr id="3" name="Picture 2" descr="A picture containing text, line, diagram, plot&#10;&#10;Description automatically generated">
            <a:extLst>
              <a:ext uri="{FF2B5EF4-FFF2-40B4-BE49-F238E27FC236}">
                <a16:creationId xmlns:a16="http://schemas.microsoft.com/office/drawing/2014/main" id="{98907AD8-169D-2D16-0D6B-B6802CFF205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8261" y="13244820"/>
            <a:ext cx="5444472" cy="3182195"/>
          </a:xfrm>
          <a:prstGeom prst="rect">
            <a:avLst/>
          </a:prstGeom>
        </p:spPr>
      </p:pic>
      <p:pic>
        <p:nvPicPr>
          <p:cNvPr id="16" name="Picture 15" descr="A picture containing diagram, line, plot, parallel&#10;&#10;Description automatically generated">
            <a:extLst>
              <a:ext uri="{FF2B5EF4-FFF2-40B4-BE49-F238E27FC236}">
                <a16:creationId xmlns:a16="http://schemas.microsoft.com/office/drawing/2014/main" id="{F44BF733-FE78-316E-77DA-39700DCE117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3115925" y="13239586"/>
            <a:ext cx="4648367" cy="3158008"/>
          </a:xfrm>
          <a:prstGeom prst="rect">
            <a:avLst/>
          </a:prstGeom>
        </p:spPr>
      </p:pic>
      <p:pic>
        <p:nvPicPr>
          <p:cNvPr id="30" name="Picture 29" descr="A diagram of a system&#10;&#10;Description automatically generated with medium confidence">
            <a:extLst>
              <a:ext uri="{FF2B5EF4-FFF2-40B4-BE49-F238E27FC236}">
                <a16:creationId xmlns:a16="http://schemas.microsoft.com/office/drawing/2014/main" id="{0A498CFD-CDD2-4B7A-74F7-7C91ADB212E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57556" y="7177317"/>
            <a:ext cx="5077700" cy="2964261"/>
          </a:xfrm>
          <a:prstGeom prst="rect">
            <a:avLst/>
          </a:prstGeom>
        </p:spPr>
      </p:pic>
    </p:spTree>
    <p:extLst>
      <p:ext uri="{BB962C8B-B14F-4D97-AF65-F5344CB8AC3E}">
        <p14:creationId xmlns:p14="http://schemas.microsoft.com/office/powerpoint/2010/main" val="91832909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143C91720C80E48B874397484007CDE" ma:contentTypeVersion="2" ma:contentTypeDescription="Create a new document." ma:contentTypeScope="" ma:versionID="d76e5b201cebf226ef0a6eca105f8805">
  <xsd:schema xmlns:xsd="http://www.w3.org/2001/XMLSchema" xmlns:xs="http://www.w3.org/2001/XMLSchema" xmlns:p="http://schemas.microsoft.com/office/2006/metadata/properties" xmlns:ns3="75bad2f1-4480-4091-b971-d6549568c6ba" targetNamespace="http://schemas.microsoft.com/office/2006/metadata/properties" ma:root="true" ma:fieldsID="256ec343ab1cdaca490372d0de47d9f8" ns3:_="">
    <xsd:import namespace="75bad2f1-4480-4091-b971-d6549568c6ba"/>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bad2f1-4480-4091-b971-d6549568c6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4CEE65-2F5F-439D-B16E-1EA41A1343BE}">
  <ds:schemaRefs>
    <ds:schemaRef ds:uri="http://purl.org/dc/terms/"/>
    <ds:schemaRef ds:uri="http://schemas.microsoft.com/office/2006/metadata/properties"/>
    <ds:schemaRef ds:uri="75bad2f1-4480-4091-b971-d6549568c6ba"/>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www.w3.org/XML/1998/namespace"/>
    <ds:schemaRef ds:uri="http://purl.org/dc/elements/1.1/"/>
  </ds:schemaRefs>
</ds:datastoreItem>
</file>

<file path=customXml/itemProps2.xml><?xml version="1.0" encoding="utf-8"?>
<ds:datastoreItem xmlns:ds="http://schemas.openxmlformats.org/officeDocument/2006/customXml" ds:itemID="{F9FEB6C1-A640-4362-8923-2CCE03717A0D}">
  <ds:schemaRefs>
    <ds:schemaRef ds:uri="http://schemas.microsoft.com/sharepoint/v3/contenttype/forms"/>
  </ds:schemaRefs>
</ds:datastoreItem>
</file>

<file path=customXml/itemProps3.xml><?xml version="1.0" encoding="utf-8"?>
<ds:datastoreItem xmlns:ds="http://schemas.openxmlformats.org/officeDocument/2006/customXml" ds:itemID="{AA86A9AD-BD70-45E2-A1C4-946D5734DA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bad2f1-4480-4091-b971-d6549568c6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1191</TotalTime>
  <Words>877</Words>
  <Application>Microsoft Office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Cambria Math</vt:lpstr>
      <vt:lpstr>Google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Castaneda</dc:creator>
  <cp:lastModifiedBy>Tymoshchuk, Pavlo</cp:lastModifiedBy>
  <cp:revision>59</cp:revision>
  <dcterms:created xsi:type="dcterms:W3CDTF">2023-05-18T02:09:51Z</dcterms:created>
  <dcterms:modified xsi:type="dcterms:W3CDTF">2023-06-18T16:03:25Z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0x010100A143C91720C80E48B874397484007CDE</vt:lpwstr>
  </property>
</Properties>
</file>